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27080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27080" y="0"/>
            <a:ext cx="126461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5836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spc="200" kern="0" dirty="0">
                <a:solidFill>
                  <a:srgbClr val="20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KIDNEY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956048" y="621792"/>
            <a:ext cx="6583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8AF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41248" y="1389888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spc="170" kern="0" dirty="0">
                <a:solidFill>
                  <a:srgbClr val="5A5A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CHALLENGE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029968"/>
            <a:ext cx="10561320" cy="0"/>
          </a:xfrm>
          <a:prstGeom prst="line">
            <a:avLst/>
          </a:prstGeom>
          <a:noFill/>
          <a:ln w="1270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578608"/>
            <a:ext cx="10561320" cy="2359152"/>
          </a:xfrm>
          <a:prstGeom prst="roundRect">
            <a:avLst/>
          </a:prstGeom>
          <a:solidFill>
            <a:srgbClr val="F4F8FB"/>
          </a:solidFill>
          <a:ln w="10160">
            <a:solidFill>
              <a:srgbClr val="CAD7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578608"/>
            <a:ext cx="91440" cy="2359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1821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B: Scalable Prototypes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188720" y="385876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ready for pilot testing.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79392" y="5349240"/>
            <a:ext cx="3657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45536" y="5687568"/>
            <a:ext cx="5897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support for the living kidney donor journey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B: SCALABLE PROTOTYPE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2064" y="93268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support across the entire living kidney donor journey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015984" y="896112"/>
            <a:ext cx="2651760" cy="384048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E4BE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62288" y="1014984"/>
            <a:ext cx="23591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05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 • PILOT READY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502920" y="1417320"/>
            <a:ext cx="5532120" cy="2029968"/>
          </a:xfrm>
          <a:prstGeom prst="roundRect">
            <a:avLst>
              <a:gd name="adj" fmla="val 3604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417320"/>
            <a:ext cx="64008" cy="2029968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54533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SOLUTION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181965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PROBLEM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704088" y="203911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Willing donors face disconnected information, financial uncertainty, isolation, evaluation delays, and weak long-term follow-up. Each handoff creates another opportunity to withdraw.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704088" y="2697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NOVEL APPROACH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04088" y="2907792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donor-centered platform combines five modules: ReadyCheck, DonorShield, MentorMatch, CenterFlow, and LifeAfter. Five public tools remove the sign-up wall; role-based workflows connect donor and center tasks.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6236208" y="1417320"/>
            <a:ext cx="5440680" cy="2029968"/>
          </a:xfrm>
          <a:prstGeom prst="roundRect">
            <a:avLst>
              <a:gd name="adj" fmla="val 3604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1417320"/>
            <a:ext cx="64008" cy="2029968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54533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 &amp; CAPABILITY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28232" y="1819656"/>
            <a:ext cx="5001768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lead: Richard Horsley, submission lead and prototype owner.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capability: Next.js/TypeScript, Prisma/PostgreSQL, donor workflows, FHIR integrations, AI-assisted experiences, and cloud deployment.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partners: two transplant centers to be recruited; no institutional pilot partner is represented as confirmed.</a:t>
            </a:r>
            <a:endParaRPr lang="en-US" sz="1010" dirty="0"/>
          </a:p>
          <a:p>
            <a:pPr marL="141097" indent="-141097">
              <a:buSzPct val="100000"/>
              <a:buChar char="•"/>
            </a:pPr>
            <a:r>
              <a:rPr lang="en-US" sz="101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support model: donor and coordinator onboarding, test-data setup, workflow training, and monthly outcome review.</a:t>
            </a:r>
            <a:endParaRPr lang="en-US" sz="1010" dirty="0"/>
          </a:p>
        </p:txBody>
      </p:sp>
      <p:sp>
        <p:nvSpPr>
          <p:cNvPr id="21" name="Text 19"/>
          <p:cNvSpPr/>
          <p:nvPr/>
        </p:nvSpPr>
        <p:spPr>
          <a:xfrm>
            <a:off x="521208" y="3703320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VALUE • 12-MONTH PILOT TARGETS (NOT YET CLINICALLY VALIDATED)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 → 75%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76072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NLDAC COMPLETION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3264408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−20%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37560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WITHDRAWAL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6025896" y="4014216"/>
            <a:ext cx="261518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411480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 weeks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099048" y="4416552"/>
            <a:ext cx="24688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DURATION</a:t>
            </a:r>
            <a:endParaRPr lang="en-US" sz="730" dirty="0"/>
          </a:p>
        </p:txBody>
      </p:sp>
      <p:sp>
        <p:nvSpPr>
          <p:cNvPr id="31" name="Shape 29"/>
          <p:cNvSpPr/>
          <p:nvPr/>
        </p:nvSpPr>
        <p:spPr>
          <a:xfrm>
            <a:off x="8787384" y="4014216"/>
            <a:ext cx="2889504" cy="713232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60536" y="4114800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 → 85%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860536" y="4416552"/>
            <a:ext cx="2743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7D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TWO-YEAR FOLLOW-UP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502920" y="4965192"/>
            <a:ext cx="11173968" cy="1124712"/>
          </a:xfrm>
          <a:prstGeom prst="roundRect">
            <a:avLst>
              <a:gd name="adj" fmla="val 6504"/>
            </a:avLst>
          </a:prstGeom>
          <a:solidFill>
            <a:srgbClr val="F4F8FB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965192"/>
            <a:ext cx="64008" cy="1124712"/>
          </a:xfrm>
          <a:prstGeom prst="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5093208"/>
            <a:ext cx="10853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 SCALE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2376" y="5358384"/>
            <a:ext cx="10652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MIT-licensed code and a single web application reduce deployment complexity and vendor lock-in.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education works without an account; authenticated workflows add role, center, consent, and patient-context boundaries.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specialized hardware. Proposed pilots validate workflow fit, user adoption, interoperability, and measurable outcomes.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Efficacy &amp; Prototype Showcase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657600" cy="5074920"/>
          </a:xfrm>
          <a:prstGeom prst="roundRect">
            <a:avLst>
              <a:gd name="adj" fmla="val 2000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5074920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252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OF POTENTIAL EFFICACY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22376" y="1527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EVIDENCE-BASED DESIGN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4088" y="1801368"/>
            <a:ext cx="3227832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education is backed by a submission-cited randomized trial reporting 23% higher donation intent among ambivalent candidates.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DonorShield puts wage estimates and NLDAC guidance before clinical steps, addressing financial uncertainty early.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CenterFlow flags evaluations after 14 days without progress; LifeAfter pairs scheduled check-ins with PHQ-2 escalation at scores ≥3.</a:t>
            </a:r>
            <a:endParaRPr lang="en-US" sz="1020" dirty="0"/>
          </a:p>
          <a:p>
            <a:pPr marL="142494" indent="-142494">
              <a:buSzPct val="100000"/>
              <a:buChar char="•"/>
            </a:pPr>
            <a:r>
              <a:rPr lang="en-US" sz="10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pilot outcomes are pre-specified: NLDAC completion, withdrawal, evaluation duration, and two-year follow-up.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22376" y="3977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BETA SURFACES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" y="4251960"/>
            <a:ext cx="322783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public experiences: eligibility pre-screen, ripple calculator, waitlist map, stories, AI conversation practice.</a:t>
            </a:r>
            <a:endParaRPr lang="en-US" sz="990" dirty="0"/>
          </a:p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authenticated modules plus donor, coordinator, clinician, patient, and administrator views.</a:t>
            </a:r>
            <a:endParaRPr lang="en-US" sz="990" dirty="0"/>
          </a:p>
          <a:p>
            <a:pPr marL="138303" indent="-138303">
              <a:buSzPct val="100000"/>
              <a:buChar char="•"/>
            </a:pPr>
            <a:r>
              <a:rPr lang="en-US" sz="99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Prisma-backed APIs for goals, expenses, NLDAC, mentoring, evaluations, check-ins, consent, privacy, and alerts.</a:t>
            </a:r>
            <a:endParaRPr lang="en-US" sz="990" dirty="0"/>
          </a:p>
        </p:txBody>
      </p:sp>
      <p:sp>
        <p:nvSpPr>
          <p:cNvPr id="14" name="Shape 12"/>
          <p:cNvSpPr/>
          <p:nvPr/>
        </p:nvSpPr>
        <p:spPr>
          <a:xfrm>
            <a:off x="722376" y="5650992"/>
            <a:ext cx="3227832" cy="320040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E6C4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5751576"/>
            <a:ext cx="2944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8058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pilot outcome or clinical efficacy is claimed yet.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379976" y="1097280"/>
            <a:ext cx="7296912" cy="960120"/>
          </a:xfrm>
          <a:prstGeom prst="roundRect">
            <a:avLst>
              <a:gd name="adj" fmla="val 7619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79976" y="1097280"/>
            <a:ext cx="64008" cy="960120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1225296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INNOVATION &amp; AI 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0288" y="15087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mappings, SMART launch with PKCE, CDS Hooks cards, and structured export are implemented as prototypes. Optional GPT-4o powers public conversation role-play and contextual assistance, while the core donor workflows remain available without AI.</a:t>
            </a:r>
            <a:endParaRPr lang="en-US" sz="1040" dirty="0"/>
          </a:p>
        </p:txBody>
      </p:sp>
      <p:sp>
        <p:nvSpPr>
          <p:cNvPr id="20" name="Text 18"/>
          <p:cNvSpPr/>
          <p:nvPr/>
        </p:nvSpPr>
        <p:spPr>
          <a:xfrm>
            <a:off x="4407408" y="22494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 / UX PROTOTYPE</a:t>
            </a:r>
            <a:endParaRPr lang="en-US" sz="1000" dirty="0"/>
          </a:p>
        </p:txBody>
      </p:sp>
      <p:pic>
        <p:nvPicPr>
          <p:cNvPr id="21" name="Image 0" descr="D:\OpenSource\kidneyX\submission\livinglink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976" y="2487168"/>
            <a:ext cx="7296912" cy="36850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92840" y="0"/>
            <a:ext cx="898855" cy="7315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377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30" kern="0" dirty="0">
                <a:solidFill>
                  <a:srgbClr val="168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READINESS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466344"/>
            <a:ext cx="11109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Pilot Implementation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95360" y="6556248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8A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LivingLink  |  KidneyX EMPOWER Track 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657600" cy="2039112"/>
          </a:xfrm>
          <a:prstGeom prst="roundRect">
            <a:avLst>
              <a:gd name="adj" fmla="val 3587"/>
            </a:avLst>
          </a:prstGeom>
          <a:solidFill>
            <a:srgbClr val="EAF4F8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97280"/>
            <a:ext cx="64008" cy="2039112"/>
          </a:xfrm>
          <a:prstGeom prst="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12252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527048"/>
            <a:ext cx="3227832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Next.js 15 / TypeScript application with server route handlers.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+ PostgreSQL data layer; Clerk integration and role/center authorization helpers.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HAPI FHIR R4 plus FHIR mapping, export, SMART, and CDS Hooks prototypes.</a:t>
            </a:r>
            <a:endParaRPr lang="en-US" sz="970" dirty="0"/>
          </a:p>
          <a:p>
            <a:pPr marL="135509" indent="-135509">
              <a:buSzPct val="100000"/>
              <a:buChar char="•"/>
            </a:pPr>
            <a:r>
              <a:rPr lang="en-US" sz="97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Unit, integration, end-to-end, and accessibility test assets support iterative pilot preparation.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E8F6F3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337560"/>
            <a:ext cx="64008" cy="1965960"/>
          </a:xfrm>
          <a:prstGeom prst="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4655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INTEROPERABILITY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3758184"/>
            <a:ext cx="3227832" cy="1335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FHIR R4 resources: Patient, Observation, Goal, Coverage, Communication, Task, CarePlan, and QuestionnaireResponse.</a:t>
            </a:r>
            <a:endParaRPr lang="en-US" sz="950" dirty="0"/>
          </a:p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launch opens the app from an EHR context; CDS Hooks can return readiness and stalled-evaluation cards.</a:t>
            </a:r>
            <a:endParaRPr lang="en-US" sz="950" dirty="0"/>
          </a:p>
          <a:p>
            <a:pPr marL="132715" indent="-132715">
              <a:buSzPct val="100000"/>
              <a:buChar char="•"/>
            </a:pPr>
            <a:r>
              <a:rPr lang="en-US" sz="95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standards-based integration pattern can be configured for participating EHR environments during a pilot.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79976" y="1097280"/>
            <a:ext cx="7296912" cy="2743200"/>
          </a:xfrm>
          <a:prstGeom prst="roundRect">
            <a:avLst>
              <a:gd name="adj" fmla="val 2667"/>
            </a:avLst>
          </a:prstGeom>
          <a:solidFill>
            <a:srgbClr val="F4F8FB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9976" y="1097280"/>
            <a:ext cx="64008" cy="2743200"/>
          </a:xfrm>
          <a:prstGeom prst="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1225296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ROADMAP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99432" y="1517904"/>
            <a:ext cx="32461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355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1618488"/>
            <a:ext cx="731520" cy="219456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673352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M1–M2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5532120" y="16276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</a:t>
            </a:r>
            <a:endParaRPr lang="en-US" sz="1010" dirty="0"/>
          </a:p>
        </p:txBody>
      </p:sp>
      <p:sp>
        <p:nvSpPr>
          <p:cNvPr id="22" name="Text 20"/>
          <p:cNvSpPr/>
          <p:nvPr/>
        </p:nvSpPr>
        <p:spPr>
          <a:xfrm>
            <a:off x="4745736" y="1920240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the pilot environment, finish mobile polish, and configure center roles and workflows.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8028432" y="1517904"/>
            <a:ext cx="34107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AF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38160" y="1618488"/>
            <a:ext cx="731520" cy="219456"/>
          </a:xfrm>
          <a:prstGeom prst="roundRect">
            <a:avLst/>
          </a:prstGeom>
          <a:solidFill>
            <a:srgbClr val="08AFCB"/>
          </a:solidFill>
          <a:ln w="12700">
            <a:solidFill>
              <a:srgbClr val="08AF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5592" y="1673352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M3–M4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8961120" y="1627632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8174736" y="1920240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Center 1 staff, connect test data, and run donor and coordinator usability sessions.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4599432" y="2596896"/>
            <a:ext cx="324612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877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697480"/>
            <a:ext cx="731520" cy="219456"/>
          </a:xfrm>
          <a:prstGeom prst="roundRect">
            <a:avLst/>
          </a:prstGeom>
          <a:solidFill>
            <a:srgbClr val="16877D"/>
          </a:solidFill>
          <a:ln w="12700">
            <a:solidFill>
              <a:srgbClr val="16877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27523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M5–M6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5532120" y="270662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010" dirty="0"/>
          </a:p>
        </p:txBody>
      </p:sp>
      <p:sp>
        <p:nvSpPr>
          <p:cNvPr id="32" name="Text 30"/>
          <p:cNvSpPr/>
          <p:nvPr/>
        </p:nvSpPr>
        <p:spPr>
          <a:xfrm>
            <a:off x="4745736" y="2999232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a limited pilot; monitor engagement, stalled evaluations, NLDAC steps, and follow-up completion.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8028432" y="2596896"/>
            <a:ext cx="3410712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09A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38160" y="2697480"/>
            <a:ext cx="731520" cy="219456"/>
          </a:xfrm>
          <a:prstGeom prst="roundRect">
            <a:avLst/>
          </a:prstGeom>
          <a:solidFill>
            <a:srgbClr val="209A4B"/>
          </a:solidFill>
          <a:ln w="12700">
            <a:solidFill>
              <a:srgbClr val="209A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65592" y="2752344"/>
            <a:ext cx="67665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M7–M12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8961120" y="2706624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010" dirty="0"/>
          </a:p>
        </p:txBody>
      </p:sp>
      <p:sp>
        <p:nvSpPr>
          <p:cNvPr id="37" name="Text 35"/>
          <p:cNvSpPr/>
          <p:nvPr/>
        </p:nvSpPr>
        <p:spPr>
          <a:xfrm>
            <a:off x="8174736" y="299923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2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Center 2, localize key journeys, publish results, and release the deployment playbook.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4379976" y="4041648"/>
            <a:ext cx="7296912" cy="1773936"/>
          </a:xfrm>
          <a:prstGeom prst="roundRect">
            <a:avLst>
              <a:gd name="adj" fmla="val 4124"/>
            </a:avLst>
          </a:prstGeom>
          <a:solidFill>
            <a:srgbClr val="FFF5DE"/>
          </a:solidFill>
          <a:ln w="8890">
            <a:solidFill>
              <a:srgbClr val="CAD7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79976" y="4041648"/>
            <a:ext cx="64008" cy="1773936"/>
          </a:xfrm>
          <a:prstGeom prst="rect">
            <a:avLst/>
          </a:prstGeom>
          <a:solidFill>
            <a:srgbClr val="C88612"/>
          </a:solidFill>
          <a:ln w="12700">
            <a:solidFill>
              <a:srgbClr val="C8861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44568" y="4169664"/>
            <a:ext cx="6976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9A68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PLAYBOOK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45152" y="4489704"/>
            <a:ext cx="384048" cy="384048"/>
          </a:xfrm>
          <a:prstGeom prst="rect">
            <a:avLst/>
          </a:prstGeom>
          <a:solidFill>
            <a:srgbClr val="12355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5138928" y="4453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138928" y="4690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Center, user roles, workflows, and outcome baseline.</a:t>
            </a:r>
            <a:endParaRPr lang="en-US" sz="920" dirty="0"/>
          </a:p>
        </p:txBody>
      </p:sp>
      <p:sp>
        <p:nvSpPr>
          <p:cNvPr id="44" name="Text 42"/>
          <p:cNvSpPr/>
          <p:nvPr/>
        </p:nvSpPr>
        <p:spPr>
          <a:xfrm>
            <a:off x="7068312" y="4489704"/>
            <a:ext cx="384048" cy="384048"/>
          </a:xfrm>
          <a:prstGeom prst="rect">
            <a:avLst/>
          </a:prstGeom>
          <a:solidFill>
            <a:srgbClr val="08AFC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562088" y="4453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562088" y="469087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walkthrough, quick guide, and donor invitation flow.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9482328" y="4489704"/>
            <a:ext cx="384048" cy="384048"/>
          </a:xfrm>
          <a:prstGeom prst="rect">
            <a:avLst/>
          </a:prstGeom>
          <a:solidFill>
            <a:srgbClr val="209A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9976104" y="445312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35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976104" y="4690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four pilot targets monthly and refine the workflow.</a:t>
            </a:r>
            <a:endParaRPr lang="en-US" sz="920" dirty="0"/>
          </a:p>
        </p:txBody>
      </p:sp>
      <p:sp>
        <p:nvSpPr>
          <p:cNvPr id="50" name="Text 48"/>
          <p:cNvSpPr/>
          <p:nvPr/>
        </p:nvSpPr>
        <p:spPr>
          <a:xfrm>
            <a:off x="4617720" y="532180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9565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MODEL</a:t>
            </a:r>
            <a:endParaRPr lang="en-US" sz="960" dirty="0"/>
          </a:p>
        </p:txBody>
      </p:sp>
      <p:sp>
        <p:nvSpPr>
          <p:cNvPr id="51" name="Text 49"/>
          <p:cNvSpPr/>
          <p:nvPr/>
        </p:nvSpPr>
        <p:spPr>
          <a:xfrm>
            <a:off x="5989320" y="5285232"/>
            <a:ext cx="5413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5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Cloud-hosted web application • managed PostgreSQL • no specialized hardware • one center configuration at a time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502920" y="5989320"/>
            <a:ext cx="11173968" cy="384048"/>
          </a:xfrm>
          <a:prstGeom prst="roundRect">
            <a:avLst/>
          </a:prstGeom>
          <a:solidFill>
            <a:srgbClr val="123553"/>
          </a:solidFill>
          <a:ln w="12700">
            <a:solidFill>
              <a:srgbClr val="12355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9808" y="6108192"/>
            <a:ext cx="106801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GOAL: demonstrate repeatable deployment at two centers and measure donor and workflow outcomes.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LivingLink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LivingLink - KidneyX EMPOWER Track B</dc:title>
  <dc:subject>KidneyX EMPOWER Track B scalable prototype slides</dc:subject>
  <dc:creator>LivingLink</dc:creator>
  <cp:lastModifiedBy>LivingLink</cp:lastModifiedBy>
  <cp:revision>1</cp:revision>
  <dcterms:created xsi:type="dcterms:W3CDTF">2026-08-28T05:24:25Z</dcterms:created>
  <dcterms:modified xsi:type="dcterms:W3CDTF">2026-08-28T05:24:25Z</dcterms:modified>
</cp:coreProperties>
</file>