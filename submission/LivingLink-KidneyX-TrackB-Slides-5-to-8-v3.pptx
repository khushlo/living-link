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27080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0"/>
            <a:ext cx="126461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200" kern="0" dirty="0">
                <a:solidFill>
                  <a:srgbClr val="20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956048" y="62179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A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1389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170" kern="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CHALLENGE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10561320" cy="0"/>
          </a:xfrm>
          <a:prstGeom prst="line">
            <a:avLst/>
          </a:prstGeom>
          <a:noFill/>
          <a:ln w="1270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8608"/>
            <a:ext cx="10561320" cy="2359152"/>
          </a:xfrm>
          <a:prstGeom prst="roundRect">
            <a:avLst/>
          </a:prstGeom>
          <a:solidFill>
            <a:srgbClr val="F4F8FB"/>
          </a:solidFill>
          <a:ln w="10160">
            <a:solidFill>
              <a:srgbClr val="CA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78608"/>
            <a:ext cx="91440" cy="2359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82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188720" y="38587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ready for pilot testing.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9392" y="53492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45536" y="5687568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for the living kidney donor journey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across the entire living kidney donor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15984" y="896112"/>
            <a:ext cx="2651760" cy="384048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4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014984"/>
            <a:ext cx="2359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• PILOT READY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532120" cy="2029968"/>
          </a:xfrm>
          <a:prstGeom prst="roundRect">
            <a:avLst>
              <a:gd name="adj" fmla="val 3604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64008" cy="2029968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453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4088" y="20391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donors face disconnected information, financial uncertainty, isolation, evaluation delays, and weak long-term follow-up. Each handoff creates another opportunity to withdraw.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4088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 APPROACH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04088" y="29077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donor-centered platform combines five modules: ReadyCheck, DonorShield, MentorMatch, CenterFlow, and LifeAfter. Five public tools remove the sign-up wall; role-based workflows connect donor and center tasks.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64008" cy="2029968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45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&amp; 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1819656"/>
            <a:ext cx="5001768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lead: Richard Horsley, submission lead and prototype owner.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capability: Next.js/TypeScript, Prisma/PostgreSQL, donor workflows, FHIR integrations, AI-assisted experiences, and cloud deployment.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partners: two transplant centers to be recruited; no institutional pilot partner is represented as confirmed.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support model: donor and coordinator onboarding, test-data setup, workflow training, and monthly outcome review.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• 12-MONTH PILOT TARGETS (NOT YET CLINICALLY VALIDATED)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072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NLDAC COMPLETION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264408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WITHDRAWAL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025896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weeks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9048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DURATION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787384" y="4014216"/>
            <a:ext cx="288950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41148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→ 85%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0536" y="44165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FOLLOW-UP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11173968" cy="1124712"/>
          </a:xfrm>
          <a:prstGeom prst="roundRect">
            <a:avLst>
              <a:gd name="adj" fmla="val 6504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65192"/>
            <a:ext cx="64008" cy="1124712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93208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5358384"/>
            <a:ext cx="10652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 code and a single web application reduce deployment complexity and vendor lock-in.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education works without an account; authenticated workflows add role, center, consent, and patient-context boundaries.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hardware. Proposed pilots validate workflow fit, user adoption, interoperability, and measurable outcomes.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Efficacy &amp; Prototype Showcase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5074920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POTENTIAL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801368"/>
            <a:ext cx="32278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education is backed by a submission-cited randomized trial reporting 23% higher donation intent among ambivalent candidates.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DonorShield puts wage estimates and NLDAC guidance before clinical steps, addressing financial uncertainty early.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CenterFlow flags evaluations after 14 days without progress; LifeAfter pairs scheduled check-ins with PHQ-2 escalation at scores ≥3.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pilot outcomes are pre-specified: NLDAC completion, withdrawal, evaluation duration, and two-year follow-up.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22376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SURFACES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3227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 experiences: eligibility pre-screen, ripple calculator, waitlist map, stories, AI conversation practice.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authenticated modules plus donor, coordinator, clinician, patient, and administrator views.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Prisma-backed APIs for goals, expenses, NLDAC, mentoring, evaluations, check-ins, consent, privacy, and alerts.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22376" y="5650992"/>
            <a:ext cx="3227832" cy="320040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6C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751576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outcome or clinical efficacy is claimed yet.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379976" y="1097280"/>
            <a:ext cx="7296912" cy="960120"/>
          </a:xfrm>
          <a:prstGeom prst="roundRect">
            <a:avLst>
              <a:gd name="adj" fmla="val 7619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64008" cy="96012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&amp; AI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mappings, SMART launch with PKCE, CDS Hooks cards, and structured export are implemented as prototypes. Optional GPT-4o powers public conversation role-play and contextual assistance, while the core donor workflows remain available without AI.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407408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UX PROTOTYPE</a:t>
            </a:r>
            <a:endParaRPr lang="en-US" sz="1000" dirty="0"/>
          </a:p>
        </p:txBody>
      </p:sp>
      <p:pic>
        <p:nvPicPr>
          <p:cNvPr id="21" name="Image 0" descr="D:\OpenSource\kidneyX\submission\livinglink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2487168"/>
            <a:ext cx="729691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Pilot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2039112"/>
          </a:xfrm>
          <a:prstGeom prst="roundRect">
            <a:avLst>
              <a:gd name="adj" fmla="val 3587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03911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32278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Next.js 15 / TypeScript application with server route handlers.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+ PostgreSQL data layer; Clerk integration and role/center authorization helpers.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HAPI FHIR R4 plus FHIR mapping, export, SMART, and CDS Hooks prototypes.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end-to-end, and accessibility test assets support iterative pilot preparation.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758184"/>
            <a:ext cx="3227832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resources: Patient, Observation, Goal, Coverage, Communication, Task, CarePlan, and QuestionnaireResponse.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launch opens the app from an EHR context; CDS Hooks can return readiness and stalled-evaluation cards.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standards-based integration pattern can be configured for participating EHR environments during a pilot.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1097280"/>
            <a:ext cx="7296912" cy="274320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097280"/>
            <a:ext cx="64008" cy="2743200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517904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5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18488"/>
            <a:ext cx="731520" cy="219456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532120" y="1627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745736" y="19202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pilot environment, finish mobile polish, and configure center roles and workflows.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28432" y="1517904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618488"/>
            <a:ext cx="731520" cy="219456"/>
          </a:xfrm>
          <a:prstGeom prst="round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961120" y="1627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174736" y="1920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Center 1 staff, connect test data, and run donor and coordinator usability sessions.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99432" y="2596896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7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97480"/>
            <a:ext cx="731520" cy="219456"/>
          </a:xfrm>
          <a:prstGeom prst="round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532120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limited pilot; monitor engagement, stalled evaluations, NLDAC steps, and follow-up completion.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28432" y="2596896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9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97480"/>
            <a:ext cx="731520" cy="219456"/>
          </a:xfrm>
          <a:prstGeom prst="round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M7–M12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61120" y="270662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8174736" y="29992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Center 2, localize key journeys, publish results, and release the deployment playbook.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379976" y="4041648"/>
            <a:ext cx="7296912" cy="1773936"/>
          </a:xfrm>
          <a:prstGeom prst="roundRect">
            <a:avLst>
              <a:gd name="adj" fmla="val 4124"/>
            </a:avLst>
          </a:prstGeom>
          <a:solidFill>
            <a:srgbClr val="FFF5DE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9976" y="4041648"/>
            <a:ext cx="64008" cy="1773936"/>
          </a:xfrm>
          <a:prstGeom prst="rect">
            <a:avLst/>
          </a:prstGeom>
          <a:solidFill>
            <a:srgbClr val="C88612"/>
          </a:solidFill>
          <a:ln w="12700">
            <a:solidFill>
              <a:srgbClr val="C886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169664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9A6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PLAYBOOK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45152" y="4489704"/>
            <a:ext cx="384048" cy="384048"/>
          </a:xfrm>
          <a:prstGeom prst="rect">
            <a:avLst/>
          </a:prstGeom>
          <a:solidFill>
            <a:srgbClr val="1235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138928" y="4453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3892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Center, user roles, workflows, and outcome baseline.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068312" y="4489704"/>
            <a:ext cx="384048" cy="384048"/>
          </a:xfrm>
          <a:prstGeom prst="rect">
            <a:avLst/>
          </a:prstGeom>
          <a:solidFill>
            <a:srgbClr val="08AFC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562088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6208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walkthrough, quick guide, and donor invitation flow.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482328" y="4489704"/>
            <a:ext cx="384048" cy="384048"/>
          </a:xfrm>
          <a:prstGeom prst="rect">
            <a:avLst/>
          </a:prstGeom>
          <a:solidFill>
            <a:srgbClr val="209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976104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976104" y="4690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four pilot targets monthly and refine the workflow.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617720" y="5321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5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5989320" y="52852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web application • managed PostgreSQL • no specialized hardware • one center configuration at a time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02920" y="5989320"/>
            <a:ext cx="11173968" cy="384048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6108192"/>
            <a:ext cx="10680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demonstrate repeatable deployment at two centers and measure donor and workflow outcomes.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LivingLink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LivingLink - KidneyX EMPOWER Track B</dc:title>
  <dc:subject>KidneyX EMPOWER Track B scalable prototype slides</dc:subject>
  <dc:creator>LivingLink</dc:creator>
  <cp:lastModifiedBy>LivingLink</cp:lastModifiedBy>
  <cp:revision>1</cp:revision>
  <dcterms:created xsi:type="dcterms:W3CDTF">2026-08-28T05:23:16Z</dcterms:created>
  <dcterms:modified xsi:type="dcterms:W3CDTF">2026-08-28T05:23:16Z</dcterms:modified>
</cp:coreProperties>
</file>