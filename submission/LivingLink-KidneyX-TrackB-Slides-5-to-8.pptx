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27080" cy="73152"/>
          </a:xfrm>
          <a:prstGeom prst="rect">
            <a:avLst/>
          </a:prstGeom>
          <a:solidFill>
            <a:srgbClr val="123553"/>
          </a:solidFill>
          <a:ln w="12700">
            <a:solidFill>
              <a:srgbClr val="12355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27080" y="0"/>
            <a:ext cx="1264615" cy="73152"/>
          </a:xfrm>
          <a:prstGeom prst="rect">
            <a:avLst/>
          </a:prstGeom>
          <a:solidFill>
            <a:srgbClr val="08AFCB"/>
          </a:solidFill>
          <a:ln w="12700">
            <a:solidFill>
              <a:srgbClr val="08AF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658368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spc="200" kern="0" dirty="0">
                <a:solidFill>
                  <a:srgbClr val="209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KIDNEY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956048" y="621792"/>
            <a:ext cx="658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8AF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41248" y="1389888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spc="170" kern="0" dirty="0">
                <a:solidFill>
                  <a:srgbClr val="5A5A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 CHALLENGE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822960" y="2029968"/>
            <a:ext cx="10561320" cy="0"/>
          </a:xfrm>
          <a:prstGeom prst="line">
            <a:avLst/>
          </a:prstGeom>
          <a:noFill/>
          <a:ln w="12700">
            <a:solidFill>
              <a:srgbClr val="CAD7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578608"/>
            <a:ext cx="10561320" cy="2359152"/>
          </a:xfrm>
          <a:prstGeom prst="roundRect">
            <a:avLst/>
          </a:prstGeom>
          <a:solidFill>
            <a:srgbClr val="F4F8FB"/>
          </a:solidFill>
          <a:ln w="10160">
            <a:solidFill>
              <a:srgbClr val="CAD7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578608"/>
            <a:ext cx="91440" cy="2359152"/>
          </a:xfrm>
          <a:prstGeom prst="rect">
            <a:avLst/>
          </a:prstGeom>
          <a:solidFill>
            <a:srgbClr val="08AFCB"/>
          </a:solidFill>
          <a:ln w="12700">
            <a:solidFill>
              <a:srgbClr val="08AF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318211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B: Scalable Prototypes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1188720" y="385876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68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 ready for pilot testing.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279392" y="5349240"/>
            <a:ext cx="3657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50" kern="0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LIVINGLINK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45536" y="5687568"/>
            <a:ext cx="5897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2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support for the living kidney donor journey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3553"/>
          </a:solidFill>
          <a:ln w="12700">
            <a:solidFill>
              <a:srgbClr val="12355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92840" y="0"/>
            <a:ext cx="898855" cy="73152"/>
          </a:xfrm>
          <a:prstGeom prst="rect">
            <a:avLst/>
          </a:prstGeom>
          <a:solidFill>
            <a:srgbClr val="08AFCB"/>
          </a:solidFill>
          <a:ln w="12700">
            <a:solidFill>
              <a:srgbClr val="08AF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3774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168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B: SCALABLE PROTOTYPE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466344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LivingLink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595360" y="6556248"/>
            <a:ext cx="3063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LivingLink  |  KidneyX EMPOWER Track B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12064" y="93268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8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support across the entire living kidney donor journey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015984" y="896112"/>
            <a:ext cx="2651760" cy="384048"/>
          </a:xfrm>
          <a:prstGeom prst="roundRect">
            <a:avLst/>
          </a:prstGeom>
          <a:solidFill>
            <a:srgbClr val="FFF5DE"/>
          </a:solidFill>
          <a:ln w="12700">
            <a:solidFill>
              <a:srgbClr val="E4BE6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62288" y="1014984"/>
            <a:ext cx="23591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8058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BETA • PILOT READY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502920" y="1417320"/>
            <a:ext cx="5532120" cy="2029968"/>
          </a:xfrm>
          <a:prstGeom prst="roundRect">
            <a:avLst>
              <a:gd name="adj" fmla="val 3604"/>
            </a:avLst>
          </a:prstGeom>
          <a:solidFill>
            <a:srgbClr val="EAF4F8"/>
          </a:solidFill>
          <a:ln w="8890">
            <a:solidFill>
              <a:srgbClr val="CAD7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417320"/>
            <a:ext cx="64008" cy="2029968"/>
          </a:xfrm>
          <a:prstGeom prst="rect">
            <a:avLst/>
          </a:prstGeom>
          <a:solidFill>
            <a:srgbClr val="08AFCB"/>
          </a:solidFill>
          <a:ln w="12700">
            <a:solidFill>
              <a:srgbClr val="08AF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1545336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70" kern="0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&amp; SOLUTION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04088" y="181965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PROBLEM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704088" y="2039112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Willing donors face disconnected information, financial uncertainty, isolation, evaluation delays, and weak long-term follow-up. Each handoff creates another opportunity to withdraw.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704088" y="269748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NOVEL APPROACH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704088" y="2907792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donor-centered platform combines five modules: ReadyCheck, DonorShield, MentorMatch, CenterFlow, and LifeAfter. Five public tools remove the sign-up wall; role-based workflows connect donor and center tasks.</a:t>
            </a:r>
            <a:endParaRPr lang="en-US" sz="1070" dirty="0"/>
          </a:p>
        </p:txBody>
      </p:sp>
      <p:sp>
        <p:nvSpPr>
          <p:cNvPr id="17" name="Shape 15"/>
          <p:cNvSpPr/>
          <p:nvPr/>
        </p:nvSpPr>
        <p:spPr>
          <a:xfrm>
            <a:off x="6236208" y="1417320"/>
            <a:ext cx="5440680" cy="2029968"/>
          </a:xfrm>
          <a:prstGeom prst="roundRect">
            <a:avLst>
              <a:gd name="adj" fmla="val 3604"/>
            </a:avLst>
          </a:prstGeom>
          <a:solidFill>
            <a:srgbClr val="E8F6F3"/>
          </a:solidFill>
          <a:ln w="8890">
            <a:solidFill>
              <a:srgbClr val="CAD7E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36208" y="1417320"/>
            <a:ext cx="64008" cy="2029968"/>
          </a:xfrm>
          <a:prstGeom prst="rect">
            <a:avLst/>
          </a:prstGeom>
          <a:solidFill>
            <a:srgbClr val="16877D"/>
          </a:solidFill>
          <a:ln w="12700">
            <a:solidFill>
              <a:srgbClr val="16877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1545336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70" kern="0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TEAM &amp; CAPABILITY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28232" y="1819656"/>
            <a:ext cx="5001768" cy="1444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41097" indent="-141097">
              <a:buSzPct val="100000"/>
              <a:buChar char="•"/>
            </a:pPr>
            <a:r>
              <a:rPr lang="en-US" sz="101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lead: Richard Horsley, submission lead and prototype owner.</a:t>
            </a:r>
            <a:endParaRPr lang="en-US" sz="1010" dirty="0"/>
          </a:p>
          <a:p>
            <a:pPr marL="141097" indent="-141097">
              <a:buSzPct val="100000"/>
              <a:buChar char="•"/>
            </a:pPr>
            <a:r>
              <a:rPr lang="en-US" sz="101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capability: Next.js/TypeScript, Prisma/PostgreSQL, donor workflows, FHIR integrations, AI-assisted experiences, and cloud deployment.</a:t>
            </a:r>
            <a:endParaRPr lang="en-US" sz="1010" dirty="0"/>
          </a:p>
          <a:p>
            <a:pPr marL="141097" indent="-141097">
              <a:buSzPct val="100000"/>
              <a:buChar char="•"/>
            </a:pPr>
            <a:r>
              <a:rPr lang="en-US" sz="101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partners: two transplant centers to be recruited; no institutional pilot partner is represented as confirmed.</a:t>
            </a:r>
            <a:endParaRPr lang="en-US" sz="1010" dirty="0"/>
          </a:p>
          <a:p>
            <a:pPr marL="141097" indent="-141097">
              <a:buSzPct val="100000"/>
              <a:buChar char="•"/>
            </a:pPr>
            <a:r>
              <a:rPr lang="en-US" sz="101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support model: donor and coordinator onboarding, test-data setup, workflow training, and monthly outcome review.</a:t>
            </a:r>
            <a:endParaRPr lang="en-US" sz="1010" dirty="0"/>
          </a:p>
        </p:txBody>
      </p:sp>
      <p:sp>
        <p:nvSpPr>
          <p:cNvPr id="21" name="Text 19"/>
          <p:cNvSpPr/>
          <p:nvPr/>
        </p:nvSpPr>
        <p:spPr>
          <a:xfrm>
            <a:off x="521208" y="370332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 VALUE • 12-MONTH PILOT TARGETS (NOT YET CLINICALLY VALIDATED)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4014216"/>
            <a:ext cx="2615184" cy="713232"/>
          </a:xfrm>
          <a:prstGeom prst="roundRect">
            <a:avLst/>
          </a:prstGeom>
          <a:solidFill>
            <a:srgbClr val="123553"/>
          </a:solidFill>
          <a:ln w="12700">
            <a:solidFill>
              <a:srgbClr val="12355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" y="4114800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 → 75%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76072" y="4416552"/>
            <a:ext cx="2468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C7D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NLDAC COMPLETION</a:t>
            </a:r>
            <a:endParaRPr lang="en-US" sz="730" dirty="0"/>
          </a:p>
        </p:txBody>
      </p:sp>
      <p:sp>
        <p:nvSpPr>
          <p:cNvPr id="25" name="Shape 23"/>
          <p:cNvSpPr/>
          <p:nvPr/>
        </p:nvSpPr>
        <p:spPr>
          <a:xfrm>
            <a:off x="3264408" y="4014216"/>
            <a:ext cx="2615184" cy="713232"/>
          </a:xfrm>
          <a:prstGeom prst="roundRect">
            <a:avLst/>
          </a:prstGeom>
          <a:solidFill>
            <a:srgbClr val="123553"/>
          </a:solidFill>
          <a:ln w="12700">
            <a:solidFill>
              <a:srgbClr val="12355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4114800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−20%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337560" y="4416552"/>
            <a:ext cx="2468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C7D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DONOR WITHDRAWAL</a:t>
            </a:r>
            <a:endParaRPr lang="en-US" sz="730" dirty="0"/>
          </a:p>
        </p:txBody>
      </p:sp>
      <p:sp>
        <p:nvSpPr>
          <p:cNvPr id="28" name="Shape 26"/>
          <p:cNvSpPr/>
          <p:nvPr/>
        </p:nvSpPr>
        <p:spPr>
          <a:xfrm>
            <a:off x="6025896" y="4014216"/>
            <a:ext cx="2615184" cy="713232"/>
          </a:xfrm>
          <a:prstGeom prst="roundRect">
            <a:avLst/>
          </a:prstGeom>
          <a:solidFill>
            <a:srgbClr val="123553"/>
          </a:solidFill>
          <a:ln w="12700">
            <a:solidFill>
              <a:srgbClr val="12355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99048" y="4114800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−6 weeks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099048" y="4416552"/>
            <a:ext cx="2468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C7D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DURATION</a:t>
            </a:r>
            <a:endParaRPr lang="en-US" sz="730" dirty="0"/>
          </a:p>
        </p:txBody>
      </p:sp>
      <p:sp>
        <p:nvSpPr>
          <p:cNvPr id="31" name="Shape 29"/>
          <p:cNvSpPr/>
          <p:nvPr/>
        </p:nvSpPr>
        <p:spPr>
          <a:xfrm>
            <a:off x="8787384" y="4014216"/>
            <a:ext cx="2889504" cy="713232"/>
          </a:xfrm>
          <a:prstGeom prst="roundRect">
            <a:avLst/>
          </a:prstGeom>
          <a:solidFill>
            <a:srgbClr val="123553"/>
          </a:solidFill>
          <a:ln w="12700">
            <a:solidFill>
              <a:srgbClr val="12355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860536" y="4114800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 → 85%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860536" y="4416552"/>
            <a:ext cx="2743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C7D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TWO-YEAR FOLLOW-UP</a:t>
            </a:r>
            <a:endParaRPr lang="en-US" sz="730" dirty="0"/>
          </a:p>
        </p:txBody>
      </p:sp>
      <p:sp>
        <p:nvSpPr>
          <p:cNvPr id="34" name="Shape 32"/>
          <p:cNvSpPr/>
          <p:nvPr/>
        </p:nvSpPr>
        <p:spPr>
          <a:xfrm>
            <a:off x="502920" y="4965192"/>
            <a:ext cx="11173968" cy="1124712"/>
          </a:xfrm>
          <a:prstGeom prst="roundRect">
            <a:avLst>
              <a:gd name="adj" fmla="val 6504"/>
            </a:avLst>
          </a:prstGeom>
          <a:solidFill>
            <a:srgbClr val="F4F8FB"/>
          </a:solidFill>
          <a:ln w="8890">
            <a:solidFill>
              <a:srgbClr val="CAD7E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" y="4965192"/>
            <a:ext cx="64008" cy="1124712"/>
          </a:xfrm>
          <a:prstGeom prst="rect">
            <a:avLst/>
          </a:prstGeom>
          <a:solidFill>
            <a:srgbClr val="209A4B"/>
          </a:solidFill>
          <a:ln w="12700">
            <a:solidFill>
              <a:srgbClr val="209A4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7512" y="5093208"/>
            <a:ext cx="10853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70" kern="0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CAN SCALE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22376" y="5358384"/>
            <a:ext cx="1065276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42494" indent="-142494">
              <a:buSzPct val="100000"/>
              <a:buChar char="•"/>
            </a:pPr>
            <a:r>
              <a:rPr lang="en-US" sz="102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MIT-licensed code and a single web application reduce deployment complexity and vendor lock-in.</a:t>
            </a:r>
            <a:endParaRPr lang="en-US" sz="1020" dirty="0"/>
          </a:p>
          <a:p>
            <a:pPr marL="142494" indent="-142494">
              <a:buSzPct val="100000"/>
              <a:buChar char="•"/>
            </a:pPr>
            <a:r>
              <a:rPr lang="en-US" sz="102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education works without an account; authenticated workflows add role, center, consent, and patient-context boundaries.</a:t>
            </a:r>
            <a:endParaRPr lang="en-US" sz="1020" dirty="0"/>
          </a:p>
          <a:p>
            <a:pPr marL="142494" indent="-142494">
              <a:buSzPct val="100000"/>
              <a:buChar char="•"/>
            </a:pPr>
            <a:r>
              <a:rPr lang="en-US" sz="102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specialized hardware. Proposed pilots validate workflow fit, user adoption, interoperability, and measurable outcomes.</a:t>
            </a:r>
            <a:endParaRPr lang="en-US" sz="10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3553"/>
          </a:solidFill>
          <a:ln w="12700">
            <a:solidFill>
              <a:srgbClr val="12355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92840" y="0"/>
            <a:ext cx="898855" cy="73152"/>
          </a:xfrm>
          <a:prstGeom prst="rect">
            <a:avLst/>
          </a:prstGeom>
          <a:solidFill>
            <a:srgbClr val="08AFCB"/>
          </a:solidFill>
          <a:ln w="12700">
            <a:solidFill>
              <a:srgbClr val="08AF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3774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168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BETA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466344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of Efficacy &amp; Prototype Showcase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595360" y="6556248"/>
            <a:ext cx="3063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LivingLink  |  KidneyX EMPOWER Track B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02920" y="1097280"/>
            <a:ext cx="3657600" cy="5074920"/>
          </a:xfrm>
          <a:prstGeom prst="roundRect">
            <a:avLst>
              <a:gd name="adj" fmla="val 2000"/>
            </a:avLst>
          </a:prstGeom>
          <a:solidFill>
            <a:srgbClr val="EAF4F8"/>
          </a:solidFill>
          <a:ln w="8890">
            <a:solidFill>
              <a:srgbClr val="CAD7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097280"/>
            <a:ext cx="64008" cy="5074920"/>
          </a:xfrm>
          <a:prstGeom prst="rect">
            <a:avLst/>
          </a:prstGeom>
          <a:solidFill>
            <a:srgbClr val="08AFCB"/>
          </a:solidFill>
          <a:ln w="12700">
            <a:solidFill>
              <a:srgbClr val="08AF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1225296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70" kern="0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OF POTENTIAL EFFICACY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22376" y="152704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EVIDENCE-BASED DESIGN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04088" y="1801368"/>
            <a:ext cx="3227832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42494" indent="-142494">
              <a:buSzPct val="100000"/>
              <a:buChar char="•"/>
            </a:pPr>
            <a:r>
              <a:rPr lang="en-US" sz="102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education is backed by a submission-cited randomized trial reporting 23% higher donation intent among ambivalent candidates.</a:t>
            </a:r>
            <a:endParaRPr lang="en-US" sz="1020" dirty="0"/>
          </a:p>
          <a:p>
            <a:pPr marL="142494" indent="-142494">
              <a:buSzPct val="100000"/>
              <a:buChar char="•"/>
            </a:pPr>
            <a:r>
              <a:rPr lang="en-US" sz="102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DonorShield puts wage estimates and NLDAC guidance before clinical steps, addressing financial uncertainty early.</a:t>
            </a:r>
            <a:endParaRPr lang="en-US" sz="1020" dirty="0"/>
          </a:p>
          <a:p>
            <a:pPr marL="142494" indent="-142494">
              <a:buSzPct val="100000"/>
              <a:buChar char="•"/>
            </a:pPr>
            <a:r>
              <a:rPr lang="en-US" sz="102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CenterFlow flags evaluations after 14 days without progress; LifeAfter pairs scheduled check-ins with PHQ-2 escalation at scores ≥3.</a:t>
            </a:r>
            <a:endParaRPr lang="en-US" sz="1020" dirty="0"/>
          </a:p>
          <a:p>
            <a:pPr marL="142494" indent="-142494">
              <a:buSzPct val="100000"/>
              <a:buChar char="•"/>
            </a:pPr>
            <a:r>
              <a:rPr lang="en-US" sz="102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pilot outcomes are pre-specified: NLDAC completion, withdrawal, evaluation duration, and two-year follow-up.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722376" y="39776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BETA SURFACES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04088" y="4251960"/>
            <a:ext cx="3227832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38303" indent="-138303">
              <a:buSzPct val="100000"/>
              <a:buChar char="•"/>
            </a:pPr>
            <a:r>
              <a:rPr lang="en-US" sz="99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public experiences: eligibility pre-screen, ripple calculator, waitlist map, stories, AI conversation practice.</a:t>
            </a:r>
            <a:endParaRPr lang="en-US" sz="990" dirty="0"/>
          </a:p>
          <a:p>
            <a:pPr marL="138303" indent="-138303">
              <a:buSzPct val="100000"/>
              <a:buChar char="•"/>
            </a:pPr>
            <a:r>
              <a:rPr lang="en-US" sz="99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authenticated modules plus donor, coordinator, clinician, patient, and administrator views.</a:t>
            </a:r>
            <a:endParaRPr lang="en-US" sz="990" dirty="0"/>
          </a:p>
          <a:p>
            <a:pPr marL="138303" indent="-138303">
              <a:buSzPct val="100000"/>
              <a:buChar char="•"/>
            </a:pPr>
            <a:r>
              <a:rPr lang="en-US" sz="99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Prisma-backed APIs for goals, expenses, NLDAC, mentoring, evaluations, check-ins, consent, privacy, and alerts.</a:t>
            </a:r>
            <a:endParaRPr lang="en-US" sz="990" dirty="0"/>
          </a:p>
        </p:txBody>
      </p:sp>
      <p:sp>
        <p:nvSpPr>
          <p:cNvPr id="14" name="Shape 12"/>
          <p:cNvSpPr/>
          <p:nvPr/>
        </p:nvSpPr>
        <p:spPr>
          <a:xfrm>
            <a:off x="722376" y="5650992"/>
            <a:ext cx="3227832" cy="320040"/>
          </a:xfrm>
          <a:prstGeom prst="roundRect">
            <a:avLst/>
          </a:prstGeom>
          <a:solidFill>
            <a:srgbClr val="FFF5DE"/>
          </a:solidFill>
          <a:ln w="12700">
            <a:solidFill>
              <a:srgbClr val="E6C4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" y="5751576"/>
            <a:ext cx="2944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8058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pilot outcome or clinical efficacy is claimed yet.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4379976" y="1097280"/>
            <a:ext cx="7296912" cy="960120"/>
          </a:xfrm>
          <a:prstGeom prst="roundRect">
            <a:avLst>
              <a:gd name="adj" fmla="val 7619"/>
            </a:avLst>
          </a:prstGeom>
          <a:solidFill>
            <a:srgbClr val="E8F6F3"/>
          </a:solidFill>
          <a:ln w="8890">
            <a:solidFill>
              <a:srgbClr val="CAD7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79976" y="1097280"/>
            <a:ext cx="64008" cy="960120"/>
          </a:xfrm>
          <a:prstGeom prst="rect">
            <a:avLst/>
          </a:prstGeom>
          <a:solidFill>
            <a:srgbClr val="16877D"/>
          </a:solidFill>
          <a:ln w="12700">
            <a:solidFill>
              <a:srgbClr val="16877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44568" y="1225296"/>
            <a:ext cx="6976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70" kern="0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INNOVATION &amp; AI USE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90288" y="150876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FHIR R4 mappings, SMART launch with PKCE, CDS Hooks cards, and structured export are implemented as prototypes. Optional GPT-4o powers public conversation role-play and contextual assistance, while the core donor workflows remain available without AI.</a:t>
            </a:r>
            <a:endParaRPr lang="en-US" sz="1040" dirty="0"/>
          </a:p>
        </p:txBody>
      </p:sp>
      <p:sp>
        <p:nvSpPr>
          <p:cNvPr id="20" name="Text 18"/>
          <p:cNvSpPr/>
          <p:nvPr/>
        </p:nvSpPr>
        <p:spPr>
          <a:xfrm>
            <a:off x="4407408" y="224942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/ UX PROTOTYPE</a:t>
            </a:r>
            <a:endParaRPr lang="en-US" sz="1000" dirty="0"/>
          </a:p>
        </p:txBody>
      </p:sp>
      <p:pic>
        <p:nvPicPr>
          <p:cNvPr id="21" name="Image 0" descr="D:\OpenSource\kidneyX\submission\livinglink-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9976" y="2487168"/>
            <a:ext cx="7296912" cy="36850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3553"/>
          </a:solidFill>
          <a:ln w="12700">
            <a:solidFill>
              <a:srgbClr val="12355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92840" y="0"/>
            <a:ext cx="898855" cy="73152"/>
          </a:xfrm>
          <a:prstGeom prst="rect">
            <a:avLst/>
          </a:prstGeom>
          <a:solidFill>
            <a:srgbClr val="08AFCB"/>
          </a:solidFill>
          <a:ln w="12700">
            <a:solidFill>
              <a:srgbClr val="08AF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3774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168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READINESS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466344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to Pilot Implementation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595360" y="6556248"/>
            <a:ext cx="3063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LivingLink  |  KidneyX EMPOWER Track B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02920" y="1097280"/>
            <a:ext cx="3657600" cy="2039112"/>
          </a:xfrm>
          <a:prstGeom prst="roundRect">
            <a:avLst>
              <a:gd name="adj" fmla="val 3587"/>
            </a:avLst>
          </a:prstGeom>
          <a:solidFill>
            <a:srgbClr val="EAF4F8"/>
          </a:solidFill>
          <a:ln w="8890">
            <a:solidFill>
              <a:srgbClr val="CAD7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097280"/>
            <a:ext cx="64008" cy="2039112"/>
          </a:xfrm>
          <a:prstGeom prst="rect">
            <a:avLst/>
          </a:prstGeom>
          <a:solidFill>
            <a:srgbClr val="08AFCB"/>
          </a:solidFill>
          <a:ln w="12700">
            <a:solidFill>
              <a:srgbClr val="08AF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1225296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70" kern="0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FEASIBILITY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1527048"/>
            <a:ext cx="3227832" cy="1353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35509" indent="-135509">
              <a:buSzPct val="100000"/>
              <a:buChar char="•"/>
            </a:pPr>
            <a:r>
              <a:rPr lang="en-US" sz="97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Next.js 15 / TypeScript application with server route handlers.</a:t>
            </a:r>
            <a:endParaRPr lang="en-US" sz="970" dirty="0"/>
          </a:p>
          <a:p>
            <a:pPr marL="135509" indent="-135509">
              <a:buSzPct val="100000"/>
              <a:buChar char="•"/>
            </a:pPr>
            <a:r>
              <a:rPr lang="en-US" sz="97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Prisma + PostgreSQL data layer; Clerk integration and role/center authorization helpers.</a:t>
            </a:r>
            <a:endParaRPr lang="en-US" sz="970" dirty="0"/>
          </a:p>
          <a:p>
            <a:pPr marL="135509" indent="-135509">
              <a:buSzPct val="100000"/>
              <a:buChar char="•"/>
            </a:pPr>
            <a:r>
              <a:rPr lang="en-US" sz="97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HAPI FHIR R4 plus FHIR mapping, export, SMART, and CDS Hooks prototypes.</a:t>
            </a:r>
            <a:endParaRPr lang="en-US" sz="970" dirty="0"/>
          </a:p>
          <a:p>
            <a:pPr marL="135509" indent="-135509">
              <a:buSzPct val="100000"/>
              <a:buChar char="•"/>
            </a:pPr>
            <a:r>
              <a:rPr lang="en-US" sz="97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Unit, integration, end-to-end, and accessibility test assets support iterative pilot preparation.</a:t>
            </a:r>
            <a:endParaRPr lang="en-US" sz="970" dirty="0"/>
          </a:p>
        </p:txBody>
      </p:sp>
      <p:sp>
        <p:nvSpPr>
          <p:cNvPr id="11" name="Shape 9"/>
          <p:cNvSpPr/>
          <p:nvPr/>
        </p:nvSpPr>
        <p:spPr>
          <a:xfrm>
            <a:off x="502920" y="333756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E8F6F3"/>
          </a:solidFill>
          <a:ln w="8890">
            <a:solidFill>
              <a:srgbClr val="CAD7E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3337560"/>
            <a:ext cx="64008" cy="1965960"/>
          </a:xfrm>
          <a:prstGeom prst="rect">
            <a:avLst/>
          </a:prstGeom>
          <a:solidFill>
            <a:srgbClr val="16877D"/>
          </a:solidFill>
          <a:ln w="12700">
            <a:solidFill>
              <a:srgbClr val="16877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3465576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70" kern="0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INTEROPERABILITY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3232" y="3758184"/>
            <a:ext cx="3227832" cy="13350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32715" indent="-132715">
              <a:buSzPct val="100000"/>
              <a:buChar char="•"/>
            </a:pPr>
            <a:r>
              <a:rPr lang="en-US" sz="95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FHIR R4 resources: Patient, Observation, Goal, Coverage, Communication, Task, CarePlan, and QuestionnaireResponse.</a:t>
            </a:r>
            <a:endParaRPr lang="en-US" sz="950" dirty="0"/>
          </a:p>
          <a:p>
            <a:pPr marL="132715" indent="-132715">
              <a:buSzPct val="100000"/>
              <a:buChar char="•"/>
            </a:pPr>
            <a:r>
              <a:rPr lang="en-US" sz="95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launch opens the app from an EHR context; CDS Hooks can return readiness and stalled-evaluation cards.</a:t>
            </a:r>
            <a:endParaRPr lang="en-US" sz="950" dirty="0"/>
          </a:p>
          <a:p>
            <a:pPr marL="132715" indent="-132715">
              <a:buSzPct val="100000"/>
              <a:buChar char="•"/>
            </a:pPr>
            <a:r>
              <a:rPr lang="en-US" sz="95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standards-based integration pattern can be configured for participating EHR environments during a pilot.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79976" y="1097280"/>
            <a:ext cx="7296912" cy="2743200"/>
          </a:xfrm>
          <a:prstGeom prst="roundRect">
            <a:avLst>
              <a:gd name="adj" fmla="val 2667"/>
            </a:avLst>
          </a:prstGeom>
          <a:solidFill>
            <a:srgbClr val="F4F8FB"/>
          </a:solidFill>
          <a:ln w="8890">
            <a:solidFill>
              <a:srgbClr val="CAD7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79976" y="1097280"/>
            <a:ext cx="64008" cy="2743200"/>
          </a:xfrm>
          <a:prstGeom prst="rect">
            <a:avLst/>
          </a:prstGeom>
          <a:solidFill>
            <a:srgbClr val="209A4B"/>
          </a:solidFill>
          <a:ln w="12700">
            <a:solidFill>
              <a:srgbClr val="209A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44568" y="1225296"/>
            <a:ext cx="6976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70" kern="0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ROADMAP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99432" y="1517904"/>
            <a:ext cx="3246120" cy="932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2355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1618488"/>
            <a:ext cx="731520" cy="219456"/>
          </a:xfrm>
          <a:prstGeom prst="roundRect">
            <a:avLst/>
          </a:prstGeom>
          <a:solidFill>
            <a:srgbClr val="123553"/>
          </a:solidFill>
          <a:ln w="12700">
            <a:solidFill>
              <a:srgbClr val="12355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36592" y="1673352"/>
            <a:ext cx="6766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M1–M2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5532120" y="162763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b="1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</a:t>
            </a:r>
            <a:endParaRPr lang="en-US" sz="1010" dirty="0"/>
          </a:p>
        </p:txBody>
      </p:sp>
      <p:sp>
        <p:nvSpPr>
          <p:cNvPr id="22" name="Text 20"/>
          <p:cNvSpPr/>
          <p:nvPr/>
        </p:nvSpPr>
        <p:spPr>
          <a:xfrm>
            <a:off x="4745736" y="1920240"/>
            <a:ext cx="2953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2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the pilot environment, finish mobile polish, and configure center roles and workflows.</a:t>
            </a:r>
            <a:endParaRPr lang="en-US" sz="870" dirty="0"/>
          </a:p>
        </p:txBody>
      </p:sp>
      <p:sp>
        <p:nvSpPr>
          <p:cNvPr id="23" name="Shape 21"/>
          <p:cNvSpPr/>
          <p:nvPr/>
        </p:nvSpPr>
        <p:spPr>
          <a:xfrm>
            <a:off x="8028432" y="1517904"/>
            <a:ext cx="3410712" cy="932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8AFC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38160" y="1618488"/>
            <a:ext cx="731520" cy="219456"/>
          </a:xfrm>
          <a:prstGeom prst="roundRect">
            <a:avLst/>
          </a:prstGeom>
          <a:solidFill>
            <a:srgbClr val="08AFCB"/>
          </a:solidFill>
          <a:ln w="12700">
            <a:solidFill>
              <a:srgbClr val="08AF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65592" y="1673352"/>
            <a:ext cx="6766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M3–M4</a:t>
            </a:r>
            <a:endParaRPr lang="en-US" sz="720" dirty="0"/>
          </a:p>
        </p:txBody>
      </p:sp>
      <p:sp>
        <p:nvSpPr>
          <p:cNvPr id="26" name="Text 24"/>
          <p:cNvSpPr/>
          <p:nvPr/>
        </p:nvSpPr>
        <p:spPr>
          <a:xfrm>
            <a:off x="8961120" y="1627632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b="1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</a:t>
            </a:r>
            <a:endParaRPr lang="en-US" sz="1010" dirty="0"/>
          </a:p>
        </p:txBody>
      </p:sp>
      <p:sp>
        <p:nvSpPr>
          <p:cNvPr id="27" name="Text 25"/>
          <p:cNvSpPr/>
          <p:nvPr/>
        </p:nvSpPr>
        <p:spPr>
          <a:xfrm>
            <a:off x="8174736" y="1920240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2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Center 1 staff, connect test data, and run donor and coordinator usability sessions.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4599432" y="2596896"/>
            <a:ext cx="3246120" cy="932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877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09160" y="2697480"/>
            <a:ext cx="731520" cy="219456"/>
          </a:xfrm>
          <a:prstGeom prst="roundRect">
            <a:avLst/>
          </a:prstGeom>
          <a:solidFill>
            <a:srgbClr val="16877D"/>
          </a:solidFill>
          <a:ln w="12700">
            <a:solidFill>
              <a:srgbClr val="16877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36592" y="2752344"/>
            <a:ext cx="6766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M5–M6</a:t>
            </a:r>
            <a:endParaRPr lang="en-US" sz="720" dirty="0"/>
          </a:p>
        </p:txBody>
      </p:sp>
      <p:sp>
        <p:nvSpPr>
          <p:cNvPr id="31" name="Text 29"/>
          <p:cNvSpPr/>
          <p:nvPr/>
        </p:nvSpPr>
        <p:spPr>
          <a:xfrm>
            <a:off x="5532120" y="270662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b="1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010" dirty="0"/>
          </a:p>
        </p:txBody>
      </p:sp>
      <p:sp>
        <p:nvSpPr>
          <p:cNvPr id="32" name="Text 30"/>
          <p:cNvSpPr/>
          <p:nvPr/>
        </p:nvSpPr>
        <p:spPr>
          <a:xfrm>
            <a:off x="4745736" y="2999232"/>
            <a:ext cx="2953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2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a limited pilot; monitor engagement, stalled evaluations, NLDAC steps, and follow-up completion.</a:t>
            </a:r>
            <a:endParaRPr lang="en-US" sz="870" dirty="0"/>
          </a:p>
        </p:txBody>
      </p:sp>
      <p:sp>
        <p:nvSpPr>
          <p:cNvPr id="33" name="Shape 31"/>
          <p:cNvSpPr/>
          <p:nvPr/>
        </p:nvSpPr>
        <p:spPr>
          <a:xfrm>
            <a:off x="8028432" y="2596896"/>
            <a:ext cx="3410712" cy="932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09A4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38160" y="2697480"/>
            <a:ext cx="731520" cy="219456"/>
          </a:xfrm>
          <a:prstGeom prst="roundRect">
            <a:avLst/>
          </a:prstGeom>
          <a:solidFill>
            <a:srgbClr val="209A4B"/>
          </a:solidFill>
          <a:ln w="12700">
            <a:solidFill>
              <a:srgbClr val="209A4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65592" y="2752344"/>
            <a:ext cx="6766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M7–M12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8961120" y="2706624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b="1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</a:t>
            </a:r>
            <a:endParaRPr lang="en-US" sz="1010" dirty="0"/>
          </a:p>
        </p:txBody>
      </p:sp>
      <p:sp>
        <p:nvSpPr>
          <p:cNvPr id="37" name="Text 35"/>
          <p:cNvSpPr/>
          <p:nvPr/>
        </p:nvSpPr>
        <p:spPr>
          <a:xfrm>
            <a:off x="8174736" y="2999232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2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Center 2, localize key journeys, publish results, and release the deployment playbook.</a:t>
            </a:r>
            <a:endParaRPr lang="en-US" sz="870" dirty="0"/>
          </a:p>
        </p:txBody>
      </p:sp>
      <p:sp>
        <p:nvSpPr>
          <p:cNvPr id="38" name="Shape 36"/>
          <p:cNvSpPr/>
          <p:nvPr/>
        </p:nvSpPr>
        <p:spPr>
          <a:xfrm>
            <a:off x="4379976" y="4041648"/>
            <a:ext cx="7296912" cy="1773936"/>
          </a:xfrm>
          <a:prstGeom prst="roundRect">
            <a:avLst>
              <a:gd name="adj" fmla="val 4124"/>
            </a:avLst>
          </a:prstGeom>
          <a:solidFill>
            <a:srgbClr val="FFF5DE"/>
          </a:solidFill>
          <a:ln w="8890">
            <a:solidFill>
              <a:srgbClr val="CAD7E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379976" y="4041648"/>
            <a:ext cx="64008" cy="1773936"/>
          </a:xfrm>
          <a:prstGeom prst="rect">
            <a:avLst/>
          </a:prstGeom>
          <a:solidFill>
            <a:srgbClr val="C88612"/>
          </a:solidFill>
          <a:ln w="12700">
            <a:solidFill>
              <a:srgbClr val="C8861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44568" y="4169664"/>
            <a:ext cx="6976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70" kern="0" dirty="0">
                <a:solidFill>
                  <a:srgbClr val="9A68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PLAYBOOK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645152" y="4489704"/>
            <a:ext cx="384048" cy="384048"/>
          </a:xfrm>
          <a:prstGeom prst="rect">
            <a:avLst/>
          </a:prstGeom>
          <a:solidFill>
            <a:srgbClr val="12355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5138928" y="445312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138928" y="469087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Center, user roles, workflows, and outcome baseline.</a:t>
            </a:r>
            <a:endParaRPr lang="en-US" sz="920" dirty="0"/>
          </a:p>
        </p:txBody>
      </p:sp>
      <p:sp>
        <p:nvSpPr>
          <p:cNvPr id="44" name="Text 42"/>
          <p:cNvSpPr/>
          <p:nvPr/>
        </p:nvSpPr>
        <p:spPr>
          <a:xfrm>
            <a:off x="7068312" y="4489704"/>
            <a:ext cx="384048" cy="384048"/>
          </a:xfrm>
          <a:prstGeom prst="rect">
            <a:avLst/>
          </a:prstGeom>
          <a:solidFill>
            <a:srgbClr val="08AFC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7562088" y="445312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562088" y="469087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Coordinator walkthrough, quick guide, and donor invitation flow.</a:t>
            </a:r>
            <a:endParaRPr lang="en-US" sz="920" dirty="0"/>
          </a:p>
        </p:txBody>
      </p:sp>
      <p:sp>
        <p:nvSpPr>
          <p:cNvPr id="47" name="Text 45"/>
          <p:cNvSpPr/>
          <p:nvPr/>
        </p:nvSpPr>
        <p:spPr>
          <a:xfrm>
            <a:off x="9482328" y="4489704"/>
            <a:ext cx="384048" cy="384048"/>
          </a:xfrm>
          <a:prstGeom prst="rect">
            <a:avLst/>
          </a:prstGeom>
          <a:solidFill>
            <a:srgbClr val="209A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48" name="Text 46"/>
          <p:cNvSpPr/>
          <p:nvPr/>
        </p:nvSpPr>
        <p:spPr>
          <a:xfrm>
            <a:off x="9976104" y="445312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9976104" y="469087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four pilot targets monthly and refine the workflow.</a:t>
            </a:r>
            <a:endParaRPr lang="en-US" sz="920" dirty="0"/>
          </a:p>
        </p:txBody>
      </p:sp>
      <p:sp>
        <p:nvSpPr>
          <p:cNvPr id="50" name="Text 48"/>
          <p:cNvSpPr/>
          <p:nvPr/>
        </p:nvSpPr>
        <p:spPr>
          <a:xfrm>
            <a:off x="4617720" y="532180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9565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MODEL</a:t>
            </a:r>
            <a:endParaRPr lang="en-US" sz="960" dirty="0"/>
          </a:p>
        </p:txBody>
      </p:sp>
      <p:sp>
        <p:nvSpPr>
          <p:cNvPr id="51" name="Text 49"/>
          <p:cNvSpPr/>
          <p:nvPr/>
        </p:nvSpPr>
        <p:spPr>
          <a:xfrm>
            <a:off x="5989320" y="5285232"/>
            <a:ext cx="5413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Cloud-hosted web application • managed PostgreSQL • no specialized hardware • one center configuration at a time</a:t>
            </a:r>
            <a:endParaRPr lang="en-US" sz="930" dirty="0"/>
          </a:p>
        </p:txBody>
      </p:sp>
      <p:sp>
        <p:nvSpPr>
          <p:cNvPr id="52" name="Shape 50"/>
          <p:cNvSpPr/>
          <p:nvPr/>
        </p:nvSpPr>
        <p:spPr>
          <a:xfrm>
            <a:off x="502920" y="5989320"/>
            <a:ext cx="11173968" cy="384048"/>
          </a:xfrm>
          <a:prstGeom prst="roundRect">
            <a:avLst/>
          </a:prstGeom>
          <a:solidFill>
            <a:srgbClr val="123553"/>
          </a:solidFill>
          <a:ln w="12700">
            <a:solidFill>
              <a:srgbClr val="12355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49808" y="6108192"/>
            <a:ext cx="10680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12-MONTH GOAL: demonstrate repeatable deployment at two centers and measure donor and workflow outcomes.</a:t>
            </a:r>
            <a:endParaRPr lang="en-US" sz="9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LivingLink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LivingLink - KidneyX EMPOWER Track B</dc:title>
  <dc:subject>KidneyX EMPOWER Track B scalable prototype slides</dc:subject>
  <dc:creator>LivingLink</dc:creator>
  <cp:lastModifiedBy>LivingLink</cp:lastModifiedBy>
  <cp:revision>1</cp:revision>
  <dcterms:created xsi:type="dcterms:W3CDTF">2026-08-28T05:16:38Z</dcterms:created>
  <dcterms:modified xsi:type="dcterms:W3CDTF">2026-08-28T05:16:38Z</dcterms:modified>
</cp:coreProperties>
</file>