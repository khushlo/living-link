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across the entire living kidney donor journey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15984" y="896112"/>
            <a:ext cx="2651760" cy="384048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4B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62288" y="1014984"/>
            <a:ext cx="23591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• PILOT READY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5532120" cy="2029968"/>
          </a:xfrm>
          <a:prstGeom prst="roundRect">
            <a:avLst>
              <a:gd name="adj" fmla="val 3604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17320"/>
            <a:ext cx="64008" cy="2029968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5453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04088" y="203911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donors face disconnected information, financial uncertainty, isolation, evaluation delays, and weak long-term follow-up. Each handoff creates another opportunity to withdraw.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04088" y="2697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NOVEL APPROACH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04088" y="290779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donor-centered platform combines five modules: ReadyCheck, DonorShield, MentorMatch, CenterFlow, and LifeAfter. Five public tools remove the sign-up wall; role-based workflows connect donor and center tasks.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544068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17320"/>
            <a:ext cx="64008" cy="2029968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45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&amp; CAPABILITY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1819656"/>
            <a:ext cx="5001768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lead: Richard Horsley, submission lead and prototype owner.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capability: Next.js/TypeScript, Prisma/PostgreSQL, donor workflows, FHIR integration prototypes, security and accessibility planning.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partners: two transplant centers to be recruited; no institutional pilot partner is represented as confirmed.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advisors: prior donor, coordinator, transplant nephrologist, interoperability, security, privacy, and accessibility reviewers.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521208" y="3703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• 12-MONTH PILOT TARGETS (NOT YET CLINICALLY VALIDATED)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→ 75%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6072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NLDAC COMPLETION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3264408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37560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WITHDRAWAL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025896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 weeks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99048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DURATION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8787384" y="4014216"/>
            <a:ext cx="288950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0536" y="41148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→ 85%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60536" y="44165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FOLLOW-UP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02920" y="4965192"/>
            <a:ext cx="11173968" cy="1124712"/>
          </a:xfrm>
          <a:prstGeom prst="roundRect">
            <a:avLst>
              <a:gd name="adj" fmla="val 6504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965192"/>
            <a:ext cx="64008" cy="1124712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5093208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SCALE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" y="5358384"/>
            <a:ext cx="10652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MIT-licensed code and a single web application reduce deployment complexity and vendor lock-in.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education works without an account; authenticated workflows add role, center, consent, and patient-context boundaries.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specialized hardware. Proposed pilots validate workflow fit, safety, accessibility, interoperability, and outcomes before clinical use.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Efficacy &amp; Prototype Showcase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5074920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POTENTIAL EFFICACY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1801368"/>
            <a:ext cx="3227832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education is backed by a submission-cited randomized trial reporting 23% higher donation intent among ambivalent candidates.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DonorShield puts wage estimates and NLDAC guidance before clinical steps, addressing financial uncertainty early.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CenterFlow flags evaluations after 14 days without progress; LifeAfter pairs scheduled check-ins with PHQ-2 escalation at scores ≥3.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pilot outcomes are pre-specified: NLDAC completion, withdrawal, evaluation duration, and two-year follow-up.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22376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SURFACES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4251960"/>
            <a:ext cx="322783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public experiences: eligibility pre-screen, ripple calculator, waitlist map, stories, AI conversation practice.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authenticated modules plus donor, coordinator, clinician, patient, and administrator views.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Prisma-backed APIs for goals, expenses, NLDAC, mentoring, evaluations, check-ins, consent, privacy, and alerts.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722376" y="5650992"/>
            <a:ext cx="3227832" cy="320040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6C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751576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pilot outcome or clinical efficacy is claimed yet.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379976" y="1097280"/>
            <a:ext cx="7296912" cy="960120"/>
          </a:xfrm>
          <a:prstGeom prst="roundRect">
            <a:avLst>
              <a:gd name="adj" fmla="val 7619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097280"/>
            <a:ext cx="64008" cy="96012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 &amp; AI 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mappings, SMART launch with PKCE, authenticated CDS Hooks cards, and pseudonymized export are implemented as prototypes. Optional GPT-4o supports public role-play and contextual assistance; authenticated health-data processing is configuration-gated and off by default.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407408" y="22494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UX PROTOTYPE</a:t>
            </a:r>
            <a:endParaRPr lang="en-US" sz="1000" dirty="0"/>
          </a:p>
        </p:txBody>
      </p:sp>
      <p:pic>
        <p:nvPicPr>
          <p:cNvPr id="21" name="Image 0" descr="D:\OpenSource\kidneyX\submission\livinglink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2487168"/>
            <a:ext cx="7296912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Implementation &amp; Compliance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2039112"/>
          </a:xfrm>
          <a:prstGeom prst="roundRect">
            <a:avLst>
              <a:gd name="adj" fmla="val 3587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03911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527048"/>
            <a:ext cx="32278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Next.js 15 / TypeScript application with server route handlers.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+ PostgreSQL data layer; Clerk integration and role/center authorization helpers.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HAPI FHIR R4 plus FHIR mapping, export, SMART, and CDS Hooks prototypes.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unit, integration, end-to-end, and limited axe-core accessibility test assets.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37560"/>
            <a:ext cx="64008" cy="196596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4655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758184"/>
            <a:ext cx="3227832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resources: Patient, Observation, Goal, Coverage, Communication, Task, CarePlan, and QuestionnaireResponse.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launch and patient-view CDS Hooks preserve issuer, center, patient mapping, consent, and minimum-necessary boundaries.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and Oracle Health registration, sandbox testing, conformance validation, and production approval remain pilot milestones.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1097280"/>
            <a:ext cx="7296912" cy="274320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1097280"/>
            <a:ext cx="64008" cy="2743200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1517904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5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18488"/>
            <a:ext cx="731520" cy="219456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532120" y="1627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4745736" y="192024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clinical/security owners; risk analysis, penetration test, data governance, manual accessibility audit.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028432" y="1517904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AF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618488"/>
            <a:ext cx="731520" cy="219456"/>
          </a:xfrm>
          <a:prstGeom prst="round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961120" y="162763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8174736" y="1920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1 workflow pilot; FHIR validator, usability, keyboard/screen-reader, and safety testing.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599432" y="2596896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7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697480"/>
            <a:ext cx="731520" cy="219456"/>
          </a:xfrm>
          <a:prstGeom prst="round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M4–M6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532120" y="2706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745736" y="299923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Epic/Oracle Health sandboxes; SMART/CDS contracts, identity, replay, token, and tenant tests.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28432" y="2596896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9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697480"/>
            <a:ext cx="731520" cy="219456"/>
          </a:xfrm>
          <a:prstGeom prst="round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M6–M12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61120" y="270662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Scale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8174736" y="29992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2 pilot; Spanish localization; outcome analysis; open-source release and deployment playbook.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379976" y="4041648"/>
            <a:ext cx="7296912" cy="1773936"/>
          </a:xfrm>
          <a:prstGeom prst="roundRect">
            <a:avLst>
              <a:gd name="adj" fmla="val 4124"/>
            </a:avLst>
          </a:prstGeom>
          <a:solidFill>
            <a:srgbClr val="FFF5DE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9976" y="4041648"/>
            <a:ext cx="64008" cy="1773936"/>
          </a:xfrm>
          <a:prstGeom prst="rect">
            <a:avLst/>
          </a:prstGeom>
          <a:solidFill>
            <a:srgbClr val="C88612"/>
          </a:solidFill>
          <a:ln w="12700">
            <a:solidFill>
              <a:srgbClr val="C886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4169664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9A6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PLAN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08576" y="4471416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199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5596128" y="4453128"/>
            <a:ext cx="5815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HIGH impact under the high-water-mark rule; system boundary and owner approval pending.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4608576" y="4855464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5596128" y="4828032"/>
            <a:ext cx="581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AES-256-GCM fields, consent, application audit logging, and RBAC exist; key management, complete coverage, monitoring, BAAs, and external testing are required before PHI.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4608576" y="533095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5596128" y="5285232"/>
            <a:ext cx="5815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508 / WCAG 2.1 AA is a target. Complete authenticated axe coverage, keyboard and assistive-technology testing, chart data tables, PDF remediation, and VPAT/ACR assessment.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502920" y="5989320"/>
            <a:ext cx="11173968" cy="384048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6108192"/>
            <a:ext cx="10680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GATE: no clinical use or real PHI until security, privacy, clinical, accessibility, interoperability, and partner approvals are evidenced.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LivingLink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LivingLink - KidneyX EMPOWER Track B</dc:title>
  <dc:subject>KidneyX EMPOWER Track B scalable prototype slides</dc:subject>
  <dc:creator>LivingLink</dc:creator>
  <cp:lastModifiedBy>LivingLink</cp:lastModifiedBy>
  <cp:revision>1</cp:revision>
  <dcterms:created xsi:type="dcterms:W3CDTF">2026-08-28T05:06:44Z</dcterms:created>
  <dcterms:modified xsi:type="dcterms:W3CDTF">2026-08-28T05:06:44Z</dcterms:modified>
</cp:coreProperties>
</file>